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defRPr sz="2600" b="1">
                <a:solidFill>
                  <a:srgbClr val="223870"/>
                </a:solidFill>
                <a:latin typeface="Georgia"/>
              </a:defRPr>
            </a:pPr>
            <a:r>
              <a:t>PROBLEM STATEMENT: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defRPr sz="1250" b="0">
                <a:solidFill>
                  <a:srgbClr val="5F6A79"/>
                </a:solidFill>
                <a:latin typeface="Aptos"/>
              </a:defRPr>
            </a:pPr>
            <a:r>
              <a:t>Communication barrier between gesture-based communication and people who do not understand the gesture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201400" cy="5230368"/>
          </a:xfrm>
          <a:prstGeom prst="rect">
            <a:avLst/>
          </a:prstGeom>
          <a:noFill/>
          <a:ln w="31750">
            <a:solidFill>
              <a:srgbClr val="70B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417320"/>
            <a:ext cx="6995160" cy="1417320"/>
          </a:xfrm>
          <a:prstGeom prst="roundRect">
            <a:avLst/>
          </a:prstGeom>
          <a:solidFill>
            <a:srgbClr val="FFF6F5"/>
          </a:solidFill>
          <a:ln w="19050">
            <a:solidFill>
              <a:srgbClr val="C648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27632"/>
            <a:ext cx="6629400" cy="9601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defRPr sz="1700" b="0">
                <a:solidFill>
                  <a:srgbClr val="1E2C3F"/>
                </a:solidFill>
                <a:latin typeface="Aptos"/>
              </a:defRPr>
            </a:pPr>
            <a:r>
              <a:t>People who rely on hand gestures or sign language may struggle to communicate with others who cannot understand those gestures. This creates a gap between what the user wants to say and what the listener can understand.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063240"/>
            <a:ext cx="3246120" cy="1207008"/>
          </a:xfrm>
          <a:prstGeom prst="roundRect">
            <a:avLst/>
          </a:prstGeom>
          <a:solidFill>
            <a:srgbClr val="F0F7FF"/>
          </a:solidFill>
          <a:ln w="15240">
            <a:solidFill>
              <a:srgbClr val="3576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3182112"/>
            <a:ext cx="301752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defRPr sz="1230" b="1">
                <a:solidFill>
                  <a:srgbClr val="3576CA"/>
                </a:solidFill>
                <a:latin typeface="Aptos"/>
              </a:defRPr>
            </a:pPr>
            <a:r>
              <a:t>1. GESTURE-ONLY COMMUNICATION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3502152"/>
            <a:ext cx="2999232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040" b="0">
                <a:solidFill>
                  <a:srgbClr val="1E2C3F"/>
                </a:solidFill>
                <a:latin typeface="Aptos"/>
              </a:defRPr>
            </a:pPr>
            <a:r>
              <a:t>Meaning depends on the listener understanding the hand gesture.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3063240"/>
            <a:ext cx="3246120" cy="1207008"/>
          </a:xfrm>
          <a:prstGeom prst="roundRect">
            <a:avLst/>
          </a:prstGeom>
          <a:solidFill>
            <a:srgbClr val="F4FBEE"/>
          </a:solidFill>
          <a:ln w="15240">
            <a:solidFill>
              <a:srgbClr val="37A0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53128" y="3182112"/>
            <a:ext cx="301752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defRPr sz="1230" b="1">
                <a:solidFill>
                  <a:srgbClr val="37A08B"/>
                </a:solidFill>
                <a:latin typeface="Aptos"/>
              </a:defRPr>
            </a:pPr>
            <a:r>
              <a:t>2. NO DIRECT TEXT BRIDGE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53128" y="3502152"/>
            <a:ext cx="2999232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040" b="0">
                <a:solidFill>
                  <a:srgbClr val="1E2C3F"/>
                </a:solidFill>
                <a:latin typeface="Aptos"/>
              </a:defRPr>
            </a:pPr>
            <a:r>
              <a:t>There is no immediate conversion from a recognized gesture into a readable sentence.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4617720"/>
            <a:ext cx="3246120" cy="1207008"/>
          </a:xfrm>
          <a:prstGeom prst="roundRect">
            <a:avLst/>
          </a:prstGeom>
          <a:solidFill>
            <a:srgbClr val="F9F5FF"/>
          </a:solidFill>
          <a:ln w="15240">
            <a:solidFill>
              <a:srgbClr val="7453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4736592"/>
            <a:ext cx="301752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defRPr sz="1230" b="1">
                <a:solidFill>
                  <a:srgbClr val="7453B1"/>
                </a:solidFill>
                <a:latin typeface="Aptos"/>
              </a:defRPr>
            </a:pPr>
            <a:r>
              <a:t>3. VOICE OUTPUT IS MISSING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5056631"/>
            <a:ext cx="2999232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040" b="0">
                <a:solidFill>
                  <a:srgbClr val="1E2C3F"/>
                </a:solidFill>
                <a:latin typeface="Aptos"/>
              </a:defRPr>
            </a:pPr>
            <a:r>
              <a:t>Even after understanding the gesture, spoken communication is still needed in many situations.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4617720"/>
            <a:ext cx="3246120" cy="1207008"/>
          </a:xfrm>
          <a:prstGeom prst="roundRect">
            <a:avLst/>
          </a:prstGeom>
          <a:solidFill>
            <a:srgbClr val="FFFBED"/>
          </a:solidFill>
          <a:ln w="15240">
            <a:solidFill>
              <a:srgbClr val="E09F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53128" y="4736592"/>
            <a:ext cx="301752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defRPr sz="1230" b="1">
                <a:solidFill>
                  <a:srgbClr val="E09F27"/>
                </a:solidFill>
                <a:latin typeface="Aptos"/>
              </a:defRPr>
            </a:pPr>
            <a:r>
              <a:t>4. CONTEXT CAN BE HARD TO EXPRESS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53128" y="5056631"/>
            <a:ext cx="2999232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040" b="0">
                <a:solidFill>
                  <a:srgbClr val="1E2C3F"/>
                </a:solidFill>
                <a:latin typeface="Aptos"/>
              </a:defRPr>
            </a:pPr>
            <a:r>
              <a:t>A single gesture may need to become a clearer sentence for everyday communication.</a:t>
            </a:r>
          </a:p>
        </p:txBody>
      </p:sp>
      <p:pic>
        <p:nvPicPr>
          <p:cNvPr id="19" name="Picture 18" descr="sign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3568" y="1417320"/>
            <a:ext cx="3429000" cy="443484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850" b="0">
                <a:solidFill>
                  <a:srgbClr val="5F6A79"/>
                </a:solidFill>
                <a:latin typeface="Aptos"/>
              </a:defRPr>
            </a:pPr>
            <a:r>
              <a:t>SignSpeak AI - Empowering Voices Beyond Words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defRPr sz="2600" b="1">
                <a:solidFill>
                  <a:srgbClr val="223870"/>
                </a:solidFill>
                <a:latin typeface="Georgia"/>
              </a:defRPr>
            </a:pPr>
            <a:r>
              <a:t>SOLUTION: SignSpeak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defRPr sz="1250" b="0">
                <a:solidFill>
                  <a:srgbClr val="5F6A79"/>
                </a:solidFill>
                <a:latin typeface="Aptos"/>
              </a:defRPr>
            </a:pPr>
            <a:r>
              <a:t>Smart glove that converts hand gestures into text first, then converts the generated text into voice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201400" cy="5230368"/>
          </a:xfrm>
          <a:prstGeom prst="rect">
            <a:avLst/>
          </a:prstGeom>
          <a:noFill/>
          <a:ln w="31750">
            <a:solidFill>
              <a:srgbClr val="70B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920240" y="1335024"/>
            <a:ext cx="841248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48840" y="1490472"/>
            <a:ext cx="7955279" cy="3017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1700" b="1">
                <a:solidFill>
                  <a:srgbClr val="223870"/>
                </a:solidFill>
                <a:latin typeface="Aptos"/>
              </a:defRPr>
            </a:pPr>
            <a:r>
              <a:t>Sense  →  Recognize  →  Generate Text  →  Convert Text to Voice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2267712"/>
            <a:ext cx="1874519" cy="2423160"/>
          </a:xfrm>
          <a:prstGeom prst="roundRect">
            <a:avLst/>
          </a:prstGeom>
          <a:solidFill>
            <a:srgbClr val="F0F7FF"/>
          </a:solidFill>
          <a:ln w="15240">
            <a:solidFill>
              <a:srgbClr val="3576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414016"/>
            <a:ext cx="1691640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1150" b="1">
                <a:solidFill>
                  <a:srgbClr val="3576CA"/>
                </a:solidFill>
                <a:latin typeface="Aptos"/>
              </a:defRPr>
            </a:pPr>
            <a:r>
              <a:t>1. YOU GESTURE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971800"/>
            <a:ext cx="1655064" cy="1417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960" b="0">
                <a:solidFill>
                  <a:srgbClr val="1E2C3F"/>
                </a:solidFill>
                <a:latin typeface="Aptos"/>
              </a:defRPr>
            </a:pPr>
            <a:r>
              <a:t>Move your fingers / hand to express a meaning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624327" y="3456432"/>
            <a:ext cx="274321" cy="0"/>
          </a:xfrm>
          <a:prstGeom prst="line">
            <a:avLst/>
          </a:prstGeom>
          <a:ln w="25400">
            <a:solidFill>
              <a:srgbClr val="2238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971800" y="2267712"/>
            <a:ext cx="1874519" cy="2423160"/>
          </a:xfrm>
          <a:prstGeom prst="roundRect">
            <a:avLst/>
          </a:prstGeom>
          <a:solidFill>
            <a:srgbClr val="F4FBEE"/>
          </a:solidFill>
          <a:ln w="15240">
            <a:solidFill>
              <a:srgbClr val="37A0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63240" y="2414016"/>
            <a:ext cx="1691640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1150" b="1">
                <a:solidFill>
                  <a:srgbClr val="37A08B"/>
                </a:solidFill>
                <a:latin typeface="Aptos"/>
              </a:defRPr>
            </a:pPr>
            <a:r>
              <a:t>2. WE SENSE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81528" y="2971800"/>
            <a:ext cx="1655064" cy="1417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960" b="0">
                <a:solidFill>
                  <a:srgbClr val="1E2C3F"/>
                </a:solidFill>
                <a:latin typeface="Aptos"/>
              </a:defRPr>
            </a:pPr>
            <a:r>
              <a:t>Five flex sensors + MPU6050 capture finger bending and hand movement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846320" y="3456432"/>
            <a:ext cx="274320" cy="0"/>
          </a:xfrm>
          <a:prstGeom prst="line">
            <a:avLst/>
          </a:prstGeom>
          <a:ln w="25400">
            <a:solidFill>
              <a:srgbClr val="2238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193792" y="2267712"/>
            <a:ext cx="1874519" cy="2423160"/>
          </a:xfrm>
          <a:prstGeom prst="roundRect">
            <a:avLst/>
          </a:prstGeom>
          <a:solidFill>
            <a:srgbClr val="FFFBED"/>
          </a:solidFill>
          <a:ln w="15240">
            <a:solidFill>
              <a:srgbClr val="E09F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85231" y="2414016"/>
            <a:ext cx="1691640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1150" b="1">
                <a:solidFill>
                  <a:srgbClr val="E09F27"/>
                </a:solidFill>
                <a:latin typeface="Aptos"/>
              </a:defRPr>
            </a:pPr>
            <a:r>
              <a:t>3. WE RECOGNIZE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2971800"/>
            <a:ext cx="1655064" cy="1417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960" b="0">
                <a:solidFill>
                  <a:srgbClr val="1E2C3F"/>
                </a:solidFill>
                <a:latin typeface="Aptos"/>
              </a:defRPr>
            </a:pPr>
            <a:r>
              <a:t>ESP32 reads the sensor values and identifies the gesture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068312" y="3456432"/>
            <a:ext cx="274319" cy="0"/>
          </a:xfrm>
          <a:prstGeom prst="line">
            <a:avLst/>
          </a:prstGeom>
          <a:ln w="25400">
            <a:solidFill>
              <a:srgbClr val="2238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415783" y="2267712"/>
            <a:ext cx="1874519" cy="2423160"/>
          </a:xfrm>
          <a:prstGeom prst="roundRect">
            <a:avLst/>
          </a:prstGeom>
          <a:solidFill>
            <a:srgbClr val="F9F5FF"/>
          </a:solidFill>
          <a:ln w="15240">
            <a:solidFill>
              <a:srgbClr val="7453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07223" y="2414016"/>
            <a:ext cx="1691640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1150" b="1">
                <a:solidFill>
                  <a:srgbClr val="7453B1"/>
                </a:solidFill>
                <a:latin typeface="Aptos"/>
              </a:defRPr>
            </a:pPr>
            <a:r>
              <a:t>4. WE GENERATE TEXT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25511" y="2971800"/>
            <a:ext cx="1655064" cy="1417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960" b="0">
                <a:solidFill>
                  <a:srgbClr val="1E2C3F"/>
                </a:solidFill>
                <a:latin typeface="Aptos"/>
              </a:defRPr>
            </a:pPr>
            <a:r>
              <a:t>Android app converts the recognized gesture into a sentence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290304" y="3456432"/>
            <a:ext cx="274320" cy="0"/>
          </a:xfrm>
          <a:prstGeom prst="line">
            <a:avLst/>
          </a:prstGeom>
          <a:ln w="25400">
            <a:solidFill>
              <a:srgbClr val="2238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637776" y="2267712"/>
            <a:ext cx="1874519" cy="2423160"/>
          </a:xfrm>
          <a:prstGeom prst="roundRect">
            <a:avLst/>
          </a:prstGeom>
          <a:solidFill>
            <a:srgbClr val="FFF6F5"/>
          </a:solidFill>
          <a:ln w="15240">
            <a:solidFill>
              <a:srgbClr val="C648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29215" y="2414016"/>
            <a:ext cx="1691640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1150" b="1">
                <a:solidFill>
                  <a:srgbClr val="C64841"/>
                </a:solidFill>
                <a:latin typeface="Aptos"/>
              </a:defRPr>
            </a:pPr>
            <a:r>
              <a:t>5. WE SPEAK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47503" y="2971800"/>
            <a:ext cx="1655064" cy="1417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960" b="0">
                <a:solidFill>
                  <a:srgbClr val="1E2C3F"/>
                </a:solidFill>
                <a:latin typeface="Aptos"/>
              </a:defRPr>
            </a:pPr>
            <a:r>
              <a:t>The generated text is sent to Text-to-Speech and played through the phone speaker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51560" y="5010912"/>
            <a:ext cx="100584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61872" y="5166360"/>
            <a:ext cx="160020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defRPr sz="1019" b="1">
                <a:solidFill>
                  <a:srgbClr val="5F6A79"/>
                </a:solidFill>
                <a:latin typeface="Aptos"/>
              </a:defRPr>
            </a:pPr>
            <a:r>
              <a:t>PROJECT EXAMPLE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880360" y="5102352"/>
            <a:ext cx="1417320" cy="658368"/>
          </a:xfrm>
          <a:prstGeom prst="roundRect">
            <a:avLst/>
          </a:prstGeom>
          <a:solidFill>
            <a:srgbClr val="F0F7FF"/>
          </a:solidFill>
          <a:ln w="15240">
            <a:solidFill>
              <a:srgbClr val="3576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971800" y="5276088"/>
            <a:ext cx="123444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1120" b="1">
                <a:solidFill>
                  <a:srgbClr val="223870"/>
                </a:solidFill>
                <a:latin typeface="Aptos"/>
              </a:defRPr>
            </a:pPr>
            <a:r>
              <a:t>Gesture: WATER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407408" y="5431536"/>
            <a:ext cx="393192" cy="0"/>
          </a:xfrm>
          <a:prstGeom prst="line">
            <a:avLst/>
          </a:prstGeom>
          <a:ln w="22860">
            <a:solidFill>
              <a:srgbClr val="2238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4892040" y="5102352"/>
            <a:ext cx="3246120" cy="658368"/>
          </a:xfrm>
          <a:prstGeom prst="roundRect">
            <a:avLst/>
          </a:prstGeom>
          <a:solidFill>
            <a:srgbClr val="F4FBEE"/>
          </a:solidFill>
          <a:ln w="15240">
            <a:solidFill>
              <a:srgbClr val="37A0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10912" y="5175504"/>
            <a:ext cx="2999232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1050" b="1">
                <a:solidFill>
                  <a:srgbClr val="1E2C3F"/>
                </a:solidFill>
                <a:latin typeface="Aptos"/>
              </a:defRPr>
            </a:pPr>
            <a:r>
              <a:t>Generated text: “Could you please</a:t>
            </a:r>
            <a:br/>
            <a:r>
              <a:t>give me some water?”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202168" y="5431536"/>
            <a:ext cx="393192" cy="0"/>
          </a:xfrm>
          <a:prstGeom prst="line">
            <a:avLst/>
          </a:prstGeom>
          <a:ln w="22860">
            <a:solidFill>
              <a:srgbClr val="2238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686800" y="5102352"/>
            <a:ext cx="1783080" cy="658368"/>
          </a:xfrm>
          <a:prstGeom prst="roundRect">
            <a:avLst/>
          </a:prstGeom>
          <a:solidFill>
            <a:srgbClr val="FFF6F5"/>
          </a:solidFill>
          <a:ln w="15240">
            <a:solidFill>
              <a:srgbClr val="C648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823960" y="5285232"/>
            <a:ext cx="150876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1120" b="1">
                <a:solidFill>
                  <a:srgbClr val="C64841"/>
                </a:solidFill>
                <a:latin typeface="Aptos"/>
              </a:defRPr>
            </a:pPr>
            <a:r>
              <a:t>Voice output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63040" y="6062472"/>
            <a:ext cx="9281160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980" b="1">
                <a:solidFill>
                  <a:srgbClr val="223870"/>
                </a:solidFill>
                <a:latin typeface="Aptos"/>
              </a:defRPr>
            </a:pPr>
            <a:r>
              <a:t>Text is generated first. Voice is produced only after text formation.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850" b="0">
                <a:solidFill>
                  <a:srgbClr val="5F6A79"/>
                </a:solidFill>
                <a:latin typeface="Aptos"/>
              </a:defRPr>
            </a:pPr>
            <a:r>
              <a:t>SignSpeak AI - Empowering Voices Beyond Words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defRPr sz="2600" b="1">
                <a:solidFill>
                  <a:srgbClr val="223870"/>
                </a:solidFill>
                <a:latin typeface="Georgia"/>
              </a:defRPr>
            </a:pPr>
            <a:r>
              <a:t>OUTCOME: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defRPr sz="1250" b="0">
                <a:solidFill>
                  <a:srgbClr val="5F6A79"/>
                </a:solidFill>
                <a:latin typeface="Aptos"/>
              </a:defRPr>
            </a:pPr>
            <a:r>
              <a:t>From communication barrier to understandable text and voice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201400" cy="5230368"/>
          </a:xfrm>
          <a:prstGeom prst="rect">
            <a:avLst/>
          </a:prstGeom>
          <a:noFill/>
          <a:ln w="31750">
            <a:solidFill>
              <a:srgbClr val="70B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389888"/>
            <a:ext cx="3657600" cy="4526280"/>
          </a:xfrm>
          <a:prstGeom prst="roundRect">
            <a:avLst/>
          </a:prstGeom>
          <a:solidFill>
            <a:srgbClr val="FFF6F5"/>
          </a:solidFill>
          <a:ln w="15240">
            <a:solidFill>
              <a:srgbClr val="C648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00200"/>
            <a:ext cx="3291840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1550" b="1">
                <a:solidFill>
                  <a:srgbClr val="C64841"/>
                </a:solidFill>
                <a:latin typeface="Aptos"/>
              </a:defRPr>
            </a:pPr>
            <a:r>
              <a:t>WITHOUT SIGNSPEAK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48840"/>
            <a:ext cx="301752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1400" b="1">
                <a:solidFill>
                  <a:srgbClr val="1E2C3F"/>
                </a:solidFill>
                <a:latin typeface="Aptos"/>
              </a:defRPr>
            </a:pPr>
            <a:r>
              <a:t>User makes a gesture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21992" y="2615184"/>
            <a:ext cx="36576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2300" b="1">
                <a:solidFill>
                  <a:srgbClr val="C64841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3017520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1500" b="1">
                <a:solidFill>
                  <a:srgbClr val="1E2C3F"/>
                </a:solidFill>
                <a:latin typeface="Aptos"/>
              </a:defRPr>
            </a:pPr>
            <a:r>
              <a:t>Listener may not understand</a:t>
            </a:r>
            <a:br/>
            <a:r>
              <a:t>the intended meaning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4041648"/>
            <a:ext cx="2971800" cy="10515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defRPr sz="1220" b="0">
                <a:solidFill>
                  <a:srgbClr val="C64841"/>
                </a:solidFill>
                <a:latin typeface="Aptos"/>
              </a:defRPr>
            </a:pPr>
            <a:r>
              <a:t>× No direct text</a:t>
            </a:r>
            <a:br/>
            <a:r>
              <a:t>× No immediate sentence</a:t>
            </a:r>
            <a:br/>
            <a:r>
              <a:t>× No voice output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5321808"/>
            <a:ext cx="315468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1260" b="1">
                <a:solidFill>
                  <a:srgbClr val="C64841"/>
                </a:solidFill>
                <a:latin typeface="Aptos"/>
              </a:defRPr>
            </a:pPr>
            <a:r>
              <a:t>Communication gap remains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17720" y="1389888"/>
            <a:ext cx="3657600" cy="4526280"/>
          </a:xfrm>
          <a:prstGeom prst="roundRect">
            <a:avLst/>
          </a:prstGeom>
          <a:solidFill>
            <a:srgbClr val="F4FBEE"/>
          </a:solidFill>
          <a:ln w="15240">
            <a:solidFill>
              <a:srgbClr val="37A0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1600200"/>
            <a:ext cx="3291840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1550" b="1">
                <a:solidFill>
                  <a:srgbClr val="37A08B"/>
                </a:solidFill>
                <a:latin typeface="Aptos"/>
              </a:defRPr>
            </a:pPr>
            <a:r>
              <a:t>WITH SIGNSPEAK 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73752" y="2075688"/>
            <a:ext cx="31546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1250" b="1">
                <a:solidFill>
                  <a:srgbClr val="223870"/>
                </a:solidFill>
                <a:latin typeface="Aptos"/>
              </a:defRPr>
            </a:pPr>
            <a:r>
              <a:t>Gesture → Sensing → Recognition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2523744"/>
            <a:ext cx="36576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2300" b="1">
                <a:solidFill>
                  <a:srgbClr val="37A08B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10912" y="2852928"/>
            <a:ext cx="28803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1420" b="1">
                <a:solidFill>
                  <a:srgbClr val="223870"/>
                </a:solidFill>
                <a:latin typeface="Aptos"/>
              </a:defRPr>
            </a:pPr>
            <a:r>
              <a:t>Generated Text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10912" y="3355848"/>
            <a:ext cx="2880360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57216" y="3465576"/>
            <a:ext cx="258775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1100" b="1">
                <a:solidFill>
                  <a:srgbClr val="1E2C3F"/>
                </a:solidFill>
                <a:latin typeface="Aptos"/>
              </a:defRPr>
            </a:pPr>
            <a:r>
              <a:t>“Could you please give me</a:t>
            </a:r>
            <a:br/>
            <a:r>
              <a:t>some water?”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4160520"/>
            <a:ext cx="36576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2300" b="1">
                <a:solidFill>
                  <a:srgbClr val="37A08B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0600" y="4526280"/>
            <a:ext cx="3291840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1320" b="1">
                <a:solidFill>
                  <a:srgbClr val="37A08B"/>
                </a:solidFill>
                <a:latin typeface="Aptos"/>
              </a:defRPr>
            </a:pPr>
            <a:r>
              <a:t>Text-to-Speech → Voice Output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92040" y="5257800"/>
            <a:ext cx="31546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1160" b="0">
                <a:solidFill>
                  <a:srgbClr val="1E2C3F"/>
                </a:solidFill>
                <a:latin typeface="Aptos"/>
              </a:defRPr>
            </a:pPr>
            <a:r>
              <a:t>Clearer communication through the phone speaker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58200" y="1389888"/>
            <a:ext cx="3063240" cy="4526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70B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05088" y="1591056"/>
            <a:ext cx="256032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1500" b="1">
                <a:solidFill>
                  <a:srgbClr val="223870"/>
                </a:solidFill>
                <a:latin typeface="Aptos"/>
              </a:defRPr>
            </a:pPr>
            <a:r>
              <a:t>COMPONENTS USED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32520" y="2048256"/>
            <a:ext cx="2468880" cy="2834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100" b="0">
                <a:solidFill>
                  <a:srgbClr val="1E2C3F"/>
                </a:solidFill>
                <a:latin typeface="Aptos"/>
              </a:defRPr>
            </a:pPr>
            <a:r>
              <a:t>• 5 × Flex Sensors</a:t>
            </a:r>
            <a:br/>
            <a:r>
              <a:t>• MPU6050 (Accelerometer + Gyroscope)</a:t>
            </a:r>
            <a:br/>
            <a:r>
              <a:t>• ESP32 DevKit</a:t>
            </a:r>
            <a:br/>
            <a:r>
              <a:t>• Li-Po Battery (3.7V)</a:t>
            </a:r>
            <a:br/>
            <a:r>
              <a:t>• TP4056 Charger</a:t>
            </a:r>
            <a:br/>
            <a:r>
              <a:t>• Glove</a:t>
            </a:r>
            <a:br/>
            <a:r>
              <a:t>• Jumper Wires</a:t>
            </a:r>
            <a:br/>
            <a:r>
              <a:t>• On/Off Switch</a:t>
            </a:r>
            <a:br/>
            <a:r>
              <a:t>• Perfboard / PCB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05088" y="5029200"/>
            <a:ext cx="2560320" cy="6583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1019" b="1">
                <a:solidFill>
                  <a:srgbClr val="3576CA"/>
                </a:solidFill>
                <a:latin typeface="Aptos"/>
              </a:defRPr>
            </a:pPr>
            <a:r>
              <a:t>Software / communication:</a:t>
            </a:r>
            <a:br/>
            <a:r>
              <a:t>Android App + Bluetooth + Text-to-Speech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6099048"/>
            <a:ext cx="10332720" cy="23774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940" b="1">
                <a:solidFill>
                  <a:srgbClr val="5F6A79"/>
                </a:solidFill>
                <a:latin typeface="Aptos"/>
              </a:defRPr>
            </a:pPr>
            <a:r>
              <a:t>Water is used only as the example gesture in this presentation.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850" b="0">
                <a:solidFill>
                  <a:srgbClr val="5F6A79"/>
                </a:solidFill>
                <a:latin typeface="Aptos"/>
              </a:defRPr>
            </a:pPr>
            <a:r>
              <a:t>SignSpeak AI - Empowering Voices Beyond Words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