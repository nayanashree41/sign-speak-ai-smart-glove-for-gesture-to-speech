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87C217-B4E2-42DB-AEE2-39F442B0A0A2}" v="4" dt="2026-09-30T05:09:11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0728" y="125225"/>
            <a:ext cx="11155680" cy="892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600" b="1">
                <a:solidFill>
                  <a:srgbClr val="223870"/>
                </a:solidFill>
                <a:latin typeface="Georgia"/>
              </a:defRPr>
            </a:pPr>
            <a:r>
              <a:rPr lang="en-IN" dirty="0" err="1"/>
              <a:t>Signspeak</a:t>
            </a:r>
            <a:r>
              <a:rPr lang="en-IN" dirty="0"/>
              <a:t> AI-smart glove for gesture-to-speech communication</a:t>
            </a:r>
          </a:p>
          <a:p>
            <a:pPr algn="l">
              <a:defRPr sz="2600" b="1">
                <a:solidFill>
                  <a:srgbClr val="223870"/>
                </a:solidFill>
                <a:latin typeface="Georgia"/>
              </a:defRPr>
            </a:pPr>
            <a:r>
              <a:rPr dirty="0"/>
              <a:t>PROBLEM STATEMENT: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50" b="0">
                <a:solidFill>
                  <a:srgbClr val="5F6A79"/>
                </a:solidFill>
                <a:latin typeface="Aptos"/>
              </a:defRPr>
            </a:pPr>
            <a:r>
              <a:t>Communication barrier between gesture-based communication and people who do not understand the gesture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201400" cy="5230368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6995160" cy="1417320"/>
          </a:xfrm>
          <a:prstGeom prst="roundRect">
            <a:avLst/>
          </a:prstGeom>
          <a:solidFill>
            <a:srgbClr val="FFF6F5"/>
          </a:solidFill>
          <a:ln w="1905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66294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700" b="0">
                <a:solidFill>
                  <a:srgbClr val="1E2C3F"/>
                </a:solidFill>
                <a:latin typeface="Aptos"/>
              </a:defRPr>
            </a:pPr>
            <a:r>
              <a:t>People who rely on hand gestures or sign language may struggle to communicate with others who cannot understand those gestures. This creates a gap between what the user wants to say and what the listener can understand.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3246120" cy="1207008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18211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3576CA"/>
                </a:solidFill>
                <a:latin typeface="Aptos"/>
              </a:defRPr>
            </a:pPr>
            <a:r>
              <a:t>1. GESTURE-ONLY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502152"/>
            <a:ext cx="29992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t>Meaning depends on the listener understanding the hand gesture.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063240"/>
            <a:ext cx="3246120" cy="1207008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318211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37A08B"/>
                </a:solidFill>
                <a:latin typeface="Aptos"/>
              </a:defRPr>
            </a:pPr>
            <a:r>
              <a:t>2. NO DIRECT TEXT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3502152"/>
            <a:ext cx="29992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t>There is no immediate conversion from a recognized gesture into a readable sentence.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3246120" cy="1207008"/>
          </a:xfrm>
          <a:prstGeom prst="roundRect">
            <a:avLst/>
          </a:prstGeom>
          <a:solidFill>
            <a:srgbClr val="F9F5FF"/>
          </a:solidFill>
          <a:ln w="15240">
            <a:solidFill>
              <a:srgbClr val="745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473659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7453B1"/>
                </a:solidFill>
                <a:latin typeface="Aptos"/>
              </a:defRPr>
            </a:pPr>
            <a:r>
              <a:t>3. VOICE OUTPUT IS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56631"/>
            <a:ext cx="29992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t>Even after understanding the gesture, spoken communication is still needed in many situations.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617720"/>
            <a:ext cx="3246120" cy="1207008"/>
          </a:xfrm>
          <a:prstGeom prst="roundRect">
            <a:avLst/>
          </a:prstGeom>
          <a:solidFill>
            <a:srgbClr val="FFFBED"/>
          </a:solidFill>
          <a:ln w="15240">
            <a:solidFill>
              <a:srgbClr val="E0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473659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E09F27"/>
                </a:solidFill>
                <a:latin typeface="Aptos"/>
              </a:defRPr>
            </a:pPr>
            <a:r>
              <a:t>4. CONTEXT CAN BE HARD TO EXPRESS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5056631"/>
            <a:ext cx="29992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t>A single gesture may need to become a clearer sentence for everyday communication.</a:t>
            </a:r>
          </a:p>
        </p:txBody>
      </p:sp>
      <p:pic>
        <p:nvPicPr>
          <p:cNvPr id="19" name="Picture 18" descr="sig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1417320"/>
            <a:ext cx="3429000" cy="4434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600" b="1">
                <a:solidFill>
                  <a:srgbClr val="223870"/>
                </a:solidFill>
                <a:latin typeface="Georgia"/>
              </a:defRPr>
            </a:pPr>
            <a:r>
              <a:t>SOLUTION: SignSpeak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50" b="0">
                <a:solidFill>
                  <a:srgbClr val="5F6A79"/>
                </a:solidFill>
                <a:latin typeface="Aptos"/>
              </a:defRPr>
            </a:pPr>
            <a:r>
              <a:t>Smart glove that converts hand gestures into text first, then converts the generated text into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201400" cy="5230368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20240" y="1335024"/>
            <a:ext cx="8412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48840" y="1490472"/>
            <a:ext cx="7955279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223870"/>
                </a:solidFill>
                <a:latin typeface="Aptos"/>
              </a:defRPr>
            </a:pPr>
            <a:r>
              <a:t>Sense  →  Recognize  →  Generate Text  →  Convert Text to 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67712"/>
            <a:ext cx="1874519" cy="242316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3576CA"/>
                </a:solidFill>
                <a:latin typeface="Aptos"/>
              </a:defRPr>
            </a:pPr>
            <a:r>
              <a:t>1. YOU GESTURE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Move your fingers / hand to express a meaning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24327" y="3456432"/>
            <a:ext cx="274321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267712"/>
            <a:ext cx="1874519" cy="2423160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37A08B"/>
                </a:solidFill>
                <a:latin typeface="Aptos"/>
              </a:defRPr>
            </a:pPr>
            <a:r>
              <a:t>2. WE SENSE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Five flex sensors + MPU6050 capture finger bending and hand movement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3456432"/>
            <a:ext cx="274320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93792" y="2267712"/>
            <a:ext cx="1874519" cy="2423160"/>
          </a:xfrm>
          <a:prstGeom prst="roundRect">
            <a:avLst/>
          </a:prstGeom>
          <a:solidFill>
            <a:srgbClr val="FFFBED"/>
          </a:solidFill>
          <a:ln w="15240">
            <a:solidFill>
              <a:srgbClr val="E0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85231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E09F27"/>
                </a:solidFill>
                <a:latin typeface="Aptos"/>
              </a:defRPr>
            </a:pPr>
            <a:r>
              <a:t>3. WE RECOGNIZE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ESP32 reads the sensor values and identifies the gesture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68312" y="3456432"/>
            <a:ext cx="274319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15783" y="2267712"/>
            <a:ext cx="1874519" cy="2423160"/>
          </a:xfrm>
          <a:prstGeom prst="roundRect">
            <a:avLst/>
          </a:prstGeom>
          <a:solidFill>
            <a:srgbClr val="F9F5FF"/>
          </a:solidFill>
          <a:ln w="15240">
            <a:solidFill>
              <a:srgbClr val="745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07223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7453B1"/>
                </a:solidFill>
                <a:latin typeface="Aptos"/>
              </a:defRPr>
            </a:pPr>
            <a:r>
              <a:t>4. WE GENERATE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1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Android app converts the recognized gesture into a sentence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90304" y="3456432"/>
            <a:ext cx="274320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37776" y="2267712"/>
            <a:ext cx="1874519" cy="2423160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29215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C64841"/>
                </a:solidFill>
                <a:latin typeface="Aptos"/>
              </a:defRPr>
            </a:pPr>
            <a:r>
              <a:t>5. WE SPEAK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3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The generated text is sent to Text-to-Speech and played through the phone speaker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5010912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61872" y="5166360"/>
            <a:ext cx="1600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019" b="1">
                <a:solidFill>
                  <a:srgbClr val="5F6A79"/>
                </a:solidFill>
                <a:latin typeface="Aptos"/>
              </a:defRPr>
            </a:pPr>
            <a:r>
              <a:t>PROJECT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5102352"/>
            <a:ext cx="1417320" cy="658368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71800" y="5276088"/>
            <a:ext cx="12344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20" b="1">
                <a:solidFill>
                  <a:srgbClr val="223870"/>
                </a:solidFill>
                <a:latin typeface="Aptos"/>
              </a:defRPr>
            </a:pPr>
            <a:r>
              <a:t>Gesture: WATER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07408" y="5431536"/>
            <a:ext cx="393192" cy="0"/>
          </a:xfrm>
          <a:prstGeom prst="line">
            <a:avLst/>
          </a:prstGeom>
          <a:ln w="2286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892040" y="5102352"/>
            <a:ext cx="3246120" cy="658368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10912" y="5175504"/>
            <a:ext cx="299923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50" b="1">
                <a:solidFill>
                  <a:srgbClr val="1E2C3F"/>
                </a:solidFill>
                <a:latin typeface="Aptos"/>
              </a:defRPr>
            </a:pPr>
            <a:r>
              <a:t>Generated text: “Could you please</a:t>
            </a:r>
            <a:br/>
            <a:r>
              <a:t>give me some water?”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02168" y="5431536"/>
            <a:ext cx="393192" cy="0"/>
          </a:xfrm>
          <a:prstGeom prst="line">
            <a:avLst/>
          </a:prstGeom>
          <a:ln w="2286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86800" y="5102352"/>
            <a:ext cx="1783080" cy="658368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60" y="5285232"/>
            <a:ext cx="15087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20" b="1">
                <a:solidFill>
                  <a:srgbClr val="C64841"/>
                </a:solidFill>
                <a:latin typeface="Aptos"/>
              </a:defRPr>
            </a:pPr>
            <a:r>
              <a:t>Voice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6062472"/>
            <a:ext cx="9281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80" b="1">
                <a:solidFill>
                  <a:srgbClr val="223870"/>
                </a:solidFill>
                <a:latin typeface="Aptos"/>
              </a:defRPr>
            </a:pPr>
            <a:r>
              <a:t>Text is generated first. Voice is produced only after text formation.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600" b="1">
                <a:solidFill>
                  <a:srgbClr val="223870"/>
                </a:solidFill>
                <a:latin typeface="Georgia"/>
              </a:defRPr>
            </a:pPr>
            <a:r>
              <a:t>OUTCOME: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50" b="0">
                <a:solidFill>
                  <a:srgbClr val="5F6A79"/>
                </a:solidFill>
                <a:latin typeface="Aptos"/>
              </a:defRPr>
            </a:pPr>
            <a:r>
              <a:t>From communication barrier to understandable text and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201400" cy="5230368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89888"/>
            <a:ext cx="3657600" cy="4526280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32918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50" b="1">
                <a:solidFill>
                  <a:srgbClr val="C64841"/>
                </a:solidFill>
                <a:latin typeface="Aptos"/>
              </a:defRPr>
            </a:pPr>
            <a:r>
              <a:t>WITHOUT SIGNSPEAK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400" b="1">
                <a:solidFill>
                  <a:srgbClr val="1E2C3F"/>
                </a:solidFill>
                <a:latin typeface="Aptos"/>
              </a:defRPr>
            </a:pPr>
            <a:r>
              <a:t>User makes a gesture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2615184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C6484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3017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1E2C3F"/>
                </a:solidFill>
                <a:latin typeface="Aptos"/>
              </a:defRPr>
            </a:pPr>
            <a:r>
              <a:t>Listener may not understand</a:t>
            </a:r>
            <a:br/>
            <a:r>
              <a:t>the intended 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041648"/>
            <a:ext cx="2971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20" b="0">
                <a:solidFill>
                  <a:srgbClr val="C64841"/>
                </a:solidFill>
                <a:latin typeface="Aptos"/>
              </a:defRPr>
            </a:pPr>
            <a:r>
              <a:t>× No direct text</a:t>
            </a:r>
            <a:br/>
            <a:r>
              <a:t>× No immediate sentence</a:t>
            </a:r>
            <a:br/>
            <a:r>
              <a:t>× No voice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32180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60" b="1">
                <a:solidFill>
                  <a:srgbClr val="C64841"/>
                </a:solidFill>
                <a:latin typeface="Aptos"/>
              </a:defRPr>
            </a:pPr>
            <a:r>
              <a:t>Communication gap remains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389888"/>
            <a:ext cx="3657600" cy="4526280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600200"/>
            <a:ext cx="32918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50" b="1">
                <a:solidFill>
                  <a:srgbClr val="37A08B"/>
                </a:solidFill>
                <a:latin typeface="Aptos"/>
              </a:defRPr>
            </a:pPr>
            <a:r>
              <a:t>WITH SIGNSPEAK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075688"/>
            <a:ext cx="3154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50" b="1">
                <a:solidFill>
                  <a:srgbClr val="223870"/>
                </a:solidFill>
                <a:latin typeface="Aptos"/>
              </a:defRPr>
            </a:pPr>
            <a:r>
              <a:t>Gesture → Sensing →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523744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37A08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852928"/>
            <a:ext cx="2880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420" b="1">
                <a:solidFill>
                  <a:srgbClr val="223870"/>
                </a:solidFill>
                <a:latin typeface="Aptos"/>
              </a:defRPr>
            </a:pPr>
            <a:r>
              <a:t>Generated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0912" y="3355848"/>
            <a:ext cx="2880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7216" y="3465576"/>
            <a:ext cx="25877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1">
                <a:solidFill>
                  <a:srgbClr val="1E2C3F"/>
                </a:solidFill>
                <a:latin typeface="Aptos"/>
              </a:defRPr>
            </a:pPr>
            <a:r>
              <a:t>“Could you please give me</a:t>
            </a:r>
            <a:br/>
            <a:r>
              <a:t>some water?”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160520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37A08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526280"/>
            <a:ext cx="329184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20" b="1">
                <a:solidFill>
                  <a:srgbClr val="37A08B"/>
                </a:solidFill>
                <a:latin typeface="Aptos"/>
              </a:defRPr>
            </a:pPr>
            <a:r>
              <a:t>Text-to-Speech → Voice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5257800"/>
            <a:ext cx="3154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60" b="0">
                <a:solidFill>
                  <a:srgbClr val="1E2C3F"/>
                </a:solidFill>
                <a:latin typeface="Aptos"/>
              </a:defRPr>
            </a:pPr>
            <a:r>
              <a:t>Clearer communication through the phone speaker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389888"/>
            <a:ext cx="30632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05088" y="1591056"/>
            <a:ext cx="25603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223870"/>
                </a:solidFill>
                <a:latin typeface="Aptos"/>
              </a:defRPr>
            </a:pPr>
            <a:r>
              <a:t>COMPONENTS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048256"/>
            <a:ext cx="2468880" cy="2834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1E2C3F"/>
                </a:solidFill>
                <a:latin typeface="Aptos"/>
              </a:defRPr>
            </a:pPr>
            <a:r>
              <a:t>• 5 × Flex Sensors</a:t>
            </a:r>
            <a:br/>
            <a:r>
              <a:t>• MPU6050 (Accelerometer + Gyroscope)</a:t>
            </a:r>
            <a:br/>
            <a:r>
              <a:t>• ESP32 DevKit</a:t>
            </a:r>
            <a:br/>
            <a:r>
              <a:t>• Li-Po Battery (3.7V)</a:t>
            </a:r>
            <a:br/>
            <a:r>
              <a:t>• TP4056 Charger</a:t>
            </a:r>
            <a:br/>
            <a:r>
              <a:t>• Glove</a:t>
            </a:r>
            <a:br/>
            <a:r>
              <a:t>• Jumper Wires</a:t>
            </a:r>
            <a:br/>
            <a:r>
              <a:t>• On/Off Switch</a:t>
            </a:r>
            <a:br/>
            <a:r>
              <a:t>• Perfboard / PCB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5029200"/>
            <a:ext cx="256032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19" b="1">
                <a:solidFill>
                  <a:srgbClr val="3576CA"/>
                </a:solidFill>
                <a:latin typeface="Aptos"/>
              </a:defRPr>
            </a:pPr>
            <a:r>
              <a:t>Software / communication:</a:t>
            </a:r>
            <a:br/>
            <a:r>
              <a:t>Android App + Bluetooth + Text-to-Speech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099048"/>
            <a:ext cx="1033272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40" b="1">
                <a:solidFill>
                  <a:srgbClr val="5F6A79"/>
                </a:solidFill>
                <a:latin typeface="Aptos"/>
              </a:defRPr>
            </a:pPr>
            <a:r>
              <a:t>Water is used only as the example gesture in this presentation.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442</Words>
  <Application>Microsoft Office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Nshree</dc:creator>
  <cp:keywords/>
  <dc:description>generated using python-pptx</dc:description>
  <cp:lastModifiedBy>nayana shree</cp:lastModifiedBy>
  <cp:revision>3</cp:revision>
  <dcterms:created xsi:type="dcterms:W3CDTF">2013-01-27T09:14:16Z</dcterms:created>
  <dcterms:modified xsi:type="dcterms:W3CDTF">2026-09-30T05:09:11Z</dcterms:modified>
  <cp:category/>
</cp:coreProperties>
</file>