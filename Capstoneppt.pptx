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1298" r:id="rId2"/>
    <p:sldId id="1302" r:id="rId3"/>
    <p:sldId id="1303" r:id="rId4"/>
    <p:sldId id="1304" r:id="rId5"/>
    <p:sldId id="1316" r:id="rId6"/>
    <p:sldId id="1317" r:id="rId7"/>
    <p:sldId id="1318" r:id="rId8"/>
    <p:sldId id="1307" r:id="rId9"/>
    <p:sldId id="1315" r:id="rId10"/>
    <p:sldId id="271" r:id="rId11"/>
  </p:sldIdLst>
  <p:sldSz cx="12192000" cy="6858000"/>
  <p:notesSz cx="12192000" cy="6858000"/>
  <p:custDataLst>
    <p:tags r:id="rId13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437" userDrawn="1">
          <p15:clr>
            <a:srgbClr val="A4A3A4"/>
          </p15:clr>
        </p15:guide>
        <p15:guide id="2" pos="316" userDrawn="1">
          <p15:clr>
            <a:srgbClr val="A4A3A4"/>
          </p15:clr>
        </p15:guide>
        <p15:guide id="4" orient="horz" pos="87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77"/>
      </p:cViewPr>
      <p:guideLst>
        <p:guide orient="horz" pos="1437"/>
        <p:guide pos="316"/>
        <p:guide orient="horz" pos="8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r>
              <a:rPr lang="en-US" b="1"/>
              <a:t>Objective: To get an insight about Design Thinking</a:t>
            </a:r>
            <a:endParaRPr lang="en-US"/>
          </a:p>
          <a:p>
            <a:r>
              <a:rPr lang="en-US" b="1"/>
              <a:t>Procedure:</a:t>
            </a:r>
            <a:endParaRPr lang="en-US"/>
          </a:p>
          <a:p>
            <a:r>
              <a:rPr lang="en-US" b="1"/>
              <a:t>Explanation:</a:t>
            </a:r>
            <a:endParaRPr lang="en-US" b="1">
              <a:cs typeface="Calibri" panose="020F0502020204030204"/>
            </a:endParaRPr>
          </a:p>
          <a:p>
            <a:r>
              <a:rPr lang="en-US" b="1"/>
              <a:t>Introduce the topic "Design Thinking"</a:t>
            </a:r>
            <a:r>
              <a:rPr lang="en-US"/>
              <a:t>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 panose="020B0604020202020204"/>
              <a:buChar char="•"/>
            </a:pPr>
            <a:r>
              <a:rPr lang="en-US"/>
              <a:t>Design thinking is a creative approach to problem-solving that puts people at the center.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 panose="020B0604020202020204"/>
              <a:buChar char="•"/>
            </a:pPr>
            <a:r>
              <a:rPr lang="en-US"/>
              <a:t>It starts with understanding the needs of those who will use what you're designing. </a:t>
            </a:r>
          </a:p>
          <a:p>
            <a:pPr marL="171450" indent="-171450">
              <a:buFont typeface="Arial" panose="020B0604020202020204"/>
              <a:buChar char="•"/>
            </a:pPr>
            <a:r>
              <a:rPr lang="en-US"/>
              <a:t>Then, it involves brainstorming ideas, prototyping solutions, and testing them to see what works best. </a:t>
            </a:r>
          </a:p>
          <a:p>
            <a:pPr marL="171450" indent="-171450">
              <a:buFont typeface="Arial" panose="020B0604020202020204"/>
              <a:buChar char="•"/>
            </a:pPr>
            <a:r>
              <a:rPr lang="en-US"/>
              <a:t>It's about being open-minded, collaborative, and willing to try new things to come up with innovative solutions that really fit people's needs.</a:t>
            </a:r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r>
              <a:rPr lang="en-US" b="1"/>
              <a:t>Learning outcome: Students will be introduced to the topic Design Thinking.</a:t>
            </a:r>
            <a:endParaRPr lang="en-US"/>
          </a:p>
          <a:p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 panose="020F0502020204030204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/>
          <p:cNvPicPr preferRelativeResize="0"/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triangle with black background&#10;&#10;AI-generated content may be incorrect.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>
            <a:fillRect/>
          </a:stretch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  <p:pic>
        <p:nvPicPr>
          <p:cNvPr id="2" name="Picture 1" descr="A yellow triangle with black background&#10;&#10;AI-generated content may be incorrect.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>
            <a:fillRect/>
          </a:stretch>
        </p:blipFill>
        <p:spPr>
          <a:xfrm flipH="1">
            <a:off x="0" y="6412587"/>
            <a:ext cx="682906" cy="445413"/>
          </a:xfrm>
          <a:prstGeom prst="rect">
            <a:avLst/>
          </a:prstGeom>
        </p:spPr>
      </p:pic>
    </p:spTree>
    <p:custDataLst>
      <p:tags r:id="rId6"/>
    </p:custDataLst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0650"/>
          <a:stretch>
            <a:fillRect/>
          </a:stretch>
        </p:blipFill>
        <p:spPr>
          <a:xfrm flipH="1">
            <a:off x="583984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231" y="619660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861" y="695122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31" y="642644"/>
            <a:ext cx="838995" cy="553998"/>
          </a:xfrm>
          <a:prstGeom prst="rect">
            <a:avLst/>
          </a:prstGeom>
        </p:spPr>
      </p:pic>
      <p:sp>
        <p:nvSpPr>
          <p:cNvPr id="3" name="TextShape 1"/>
          <p:cNvSpPr txBox="1"/>
          <p:nvPr/>
        </p:nvSpPr>
        <p:spPr>
          <a:xfrm>
            <a:off x="7037862" y="2101763"/>
            <a:ext cx="4421469" cy="5126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3000" b="1" dirty="0">
                <a:solidFill>
                  <a:srgbClr val="213163"/>
                </a:solidFill>
              </a:rPr>
              <a:t>Signspeak AI-smart glove for gesture-to-speech communication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990" y="4193119"/>
            <a:ext cx="4748291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en-IN" dirty="0">
                <a:solidFill>
                  <a:srgbClr val="213163"/>
                </a:solidFill>
              </a:rPr>
              <a:t>Nayana </a:t>
            </a:r>
            <a:r>
              <a:rPr lang="en-US" altLang="en-IN" dirty="0" err="1">
                <a:solidFill>
                  <a:srgbClr val="213163"/>
                </a:solidFill>
              </a:rPr>
              <a:t>shree</a:t>
            </a:r>
            <a:r>
              <a:rPr lang="en-US" altLang="en-IN" dirty="0">
                <a:solidFill>
                  <a:srgbClr val="213163"/>
                </a:solidFill>
              </a:rPr>
              <a:t> N(Team Leader)</a:t>
            </a:r>
            <a:endParaRPr lang="en-IN" dirty="0">
              <a:solidFill>
                <a:srgbClr val="213163"/>
              </a:solidFill>
            </a:endParaRPr>
          </a:p>
          <a:p>
            <a:pPr algn="l"/>
            <a:r>
              <a:rPr lang="en-US" altLang="en-IN" dirty="0">
                <a:solidFill>
                  <a:srgbClr val="213163"/>
                </a:solidFill>
              </a:rPr>
              <a:t>Niranjana M V</a:t>
            </a:r>
            <a:endParaRPr lang="en-IN" dirty="0">
              <a:solidFill>
                <a:srgbClr val="213163"/>
              </a:solidFill>
            </a:endParaRPr>
          </a:p>
          <a:p>
            <a:pPr algn="l"/>
            <a:r>
              <a:rPr lang="en-US" altLang="en-IN" dirty="0">
                <a:solidFill>
                  <a:srgbClr val="213163"/>
                </a:solidFill>
              </a:rPr>
              <a:t>Sanjay S</a:t>
            </a:r>
            <a:endParaRPr lang="en-IN" dirty="0">
              <a:solidFill>
                <a:srgbClr val="213163"/>
              </a:solidFill>
            </a:endParaRPr>
          </a:p>
          <a:p>
            <a:pPr algn="l"/>
            <a:r>
              <a:rPr lang="en-US" altLang="en-IN" dirty="0">
                <a:solidFill>
                  <a:srgbClr val="213163"/>
                </a:solidFill>
              </a:rPr>
              <a:t>Bhumireddy Venkata Hasini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0131" y="5990723"/>
            <a:ext cx="4699247" cy="6140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i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Under the mentorship of,</a:t>
            </a:r>
          </a:p>
          <a:p>
            <a:r>
              <a:rPr lang="en-US" sz="1600" i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lang="en-IN" sz="1600" i="1" dirty="0" err="1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entor</a:t>
            </a:r>
            <a:r>
              <a:rPr lang="en-IN" sz="1600" i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Name:</a:t>
            </a:r>
            <a:r>
              <a:rPr lang="en-IN" i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altLang="en-IN" i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Indranil Bakshi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153154" y="5822066"/>
            <a:ext cx="41437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013" y="845438"/>
            <a:ext cx="2960627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240">
              <a:spcBef>
                <a:spcPts val="105"/>
              </a:spcBef>
            </a:pPr>
            <a:r>
              <a:rPr lang="en-IN" sz="2200" spc="-10" dirty="0">
                <a:solidFill>
                  <a:srgbClr val="001F5F"/>
                </a:solidFill>
              </a:rPr>
              <a:t>Project Objectives</a:t>
            </a:r>
            <a:br>
              <a:rPr lang="en-IN" dirty="0"/>
            </a:br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485343" y="1798400"/>
            <a:ext cx="5610657" cy="383694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 panose="020B0604020202020204"/>
                <a:cs typeface="Arial" panose="020B0604020202020204"/>
              </a:rPr>
              <a:t>Problem Statement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 panose="020B0604020202020204"/>
                <a:cs typeface="Arial" panose="020B0604020202020204"/>
              </a:rPr>
              <a:t>Solution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 panose="020B0604020202020204"/>
                <a:cs typeface="Arial" panose="020B0604020202020204"/>
              </a:rPr>
              <a:t>Implementation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System Architecture of </a:t>
            </a:r>
            <a:r>
              <a:rPr lang="en-IN" sz="2000" dirty="0" err="1"/>
              <a:t>SignSpeak</a:t>
            </a:r>
            <a:r>
              <a:rPr lang="en-IN" sz="2000" dirty="0"/>
              <a:t> AI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IN" sz="2000" dirty="0"/>
              <a:t>Data Flow &amp; Processing Workflow</a:t>
            </a:r>
            <a:endParaRPr lang="en-IN" sz="2000" dirty="0">
              <a:latin typeface="Arial" panose="020B0604020202020204"/>
              <a:cs typeface="Arial" panose="020B0604020202020204"/>
            </a:endParaRP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IN" sz="2000" dirty="0"/>
              <a:t>UML Use Case Diagram</a:t>
            </a:r>
            <a:endParaRPr lang="en-US" sz="2000" dirty="0">
              <a:latin typeface="Arial" panose="020B0604020202020204"/>
              <a:cs typeface="Arial" panose="020B0604020202020204"/>
            </a:endParaRP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 panose="020B0604020202020204"/>
                <a:cs typeface="Arial" panose="020B0604020202020204"/>
              </a:rPr>
              <a:t>Outcome</a:t>
            </a:r>
          </a:p>
          <a:p>
            <a:pPr marL="283210" indent="-28321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dirty="0">
                <a:latin typeface="Arial" panose="020B0604020202020204"/>
                <a:cs typeface="Arial" panose="020B0604020202020204"/>
              </a:rPr>
              <a:t>Components Used</a:t>
            </a: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US" dirty="0">
              <a:latin typeface="Arial" panose="020B0604020202020204"/>
              <a:cs typeface="Arial" panose="020B0604020202020204"/>
            </a:endParaRP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Picture 13" descr="A blue arrow hitting a yellow and white target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333" y="1794076"/>
            <a:ext cx="4038896" cy="31140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200" b="1" dirty="0">
                <a:solidFill>
                  <a:srgbClr val="213163"/>
                </a:solidFill>
              </a:rPr>
              <a:t>Problem Statement:</a:t>
            </a:r>
          </a:p>
        </p:txBody>
      </p:sp>
      <p:sp>
        <p:nvSpPr>
          <p:cNvPr id="23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600" b="1">
                <a:solidFill>
                  <a:srgbClr val="223870"/>
                </a:solidFill>
                <a:latin typeface="Georgia" panose="02040502050405020303"/>
              </a:defRPr>
            </a:pPr>
            <a:r>
              <a:t>PROBLEM STATEMENT: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9870" y="1416685"/>
            <a:ext cx="11051540" cy="4929505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1582039"/>
            <a:ext cx="10028412" cy="1417320"/>
          </a:xfrm>
          <a:prstGeom prst="roundRect">
            <a:avLst/>
          </a:prstGeom>
          <a:solidFill>
            <a:srgbClr val="FFF6F5"/>
          </a:solidFill>
          <a:ln w="1905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5"/>
          <p:cNvSpPr txBox="1"/>
          <p:nvPr/>
        </p:nvSpPr>
        <p:spPr>
          <a:xfrm>
            <a:off x="1091380" y="1847736"/>
            <a:ext cx="9360309" cy="87716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700" b="0">
                <a:solidFill>
                  <a:srgbClr val="1E2C3F"/>
                </a:solidFill>
                <a:latin typeface="Aptos"/>
              </a:defRPr>
            </a:pPr>
            <a:r>
              <a:rPr dirty="0"/>
              <a:t>People who rely on hand gestures or sign language may struggle to communicate with others who cannot understand those gestures. This creates a gap between what the user wants to say and what the listener can understand.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56359" y="3255137"/>
            <a:ext cx="3742705" cy="1206995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7"/>
          <p:cNvSpPr txBox="1"/>
          <p:nvPr/>
        </p:nvSpPr>
        <p:spPr>
          <a:xfrm>
            <a:off x="1863281" y="3355781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3576CA"/>
                </a:solidFill>
                <a:latin typeface="Aptos"/>
              </a:defRPr>
            </a:pPr>
            <a:r>
              <a:rPr dirty="0"/>
              <a:t>1. GESTURE-ONLY COMMUNICATION</a:t>
            </a:r>
          </a:p>
        </p:txBody>
      </p:sp>
      <p:sp>
        <p:nvSpPr>
          <p:cNvPr id="30" name="TextBox 8"/>
          <p:cNvSpPr txBox="1"/>
          <p:nvPr/>
        </p:nvSpPr>
        <p:spPr>
          <a:xfrm>
            <a:off x="2021175" y="3810592"/>
            <a:ext cx="2999232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rPr sz="1200" dirty="0"/>
              <a:t>Meaning depends on the listener understanding the hand gesture</a:t>
            </a:r>
            <a:r>
              <a:rPr dirty="0"/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87381" y="3255138"/>
            <a:ext cx="3648259" cy="1207008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0"/>
          <p:cNvSpPr txBox="1"/>
          <p:nvPr/>
        </p:nvSpPr>
        <p:spPr>
          <a:xfrm>
            <a:off x="8041005" y="3339788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37A08B"/>
                </a:solidFill>
                <a:latin typeface="Aptos"/>
              </a:defRPr>
            </a:pPr>
            <a:r>
              <a:rPr dirty="0"/>
              <a:t>2. NO DIRECT TEXT BRIDGE</a:t>
            </a:r>
          </a:p>
        </p:txBody>
      </p:sp>
      <p:sp>
        <p:nvSpPr>
          <p:cNvPr id="33" name="TextBox 11"/>
          <p:cNvSpPr txBox="1"/>
          <p:nvPr/>
        </p:nvSpPr>
        <p:spPr>
          <a:xfrm>
            <a:off x="7373690" y="3666744"/>
            <a:ext cx="329431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rPr sz="1200" dirty="0"/>
              <a:t>There is no immediate conversion from a recognized gesture into a readable sentence</a:t>
            </a:r>
            <a:r>
              <a:rPr dirty="0"/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6359" y="4736592"/>
            <a:ext cx="3742705" cy="1207008"/>
          </a:xfrm>
          <a:prstGeom prst="roundRect">
            <a:avLst/>
          </a:prstGeom>
          <a:solidFill>
            <a:srgbClr val="F9F5FF"/>
          </a:solidFill>
          <a:ln w="15240">
            <a:solidFill>
              <a:srgbClr val="745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3"/>
          <p:cNvSpPr txBox="1"/>
          <p:nvPr/>
        </p:nvSpPr>
        <p:spPr>
          <a:xfrm>
            <a:off x="2133804" y="4804854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7453B1"/>
                </a:solidFill>
                <a:latin typeface="Aptos"/>
              </a:defRPr>
            </a:pPr>
            <a:r>
              <a:rPr dirty="0"/>
              <a:t>3. VOICE OUTPUT IS MISSING</a:t>
            </a:r>
          </a:p>
        </p:txBody>
      </p:sp>
      <p:sp>
        <p:nvSpPr>
          <p:cNvPr id="36" name="TextBox 14"/>
          <p:cNvSpPr txBox="1"/>
          <p:nvPr/>
        </p:nvSpPr>
        <p:spPr>
          <a:xfrm>
            <a:off x="1863281" y="5161089"/>
            <a:ext cx="2999232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rPr sz="1200" dirty="0"/>
              <a:t>Even after understanding the gesture, spoken communication is still needed in many situations.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1559" y="4736592"/>
            <a:ext cx="3518572" cy="1207008"/>
          </a:xfrm>
          <a:prstGeom prst="roundRect">
            <a:avLst/>
          </a:prstGeom>
          <a:solidFill>
            <a:srgbClr val="FFFBED"/>
          </a:solidFill>
          <a:ln w="15240">
            <a:solidFill>
              <a:srgbClr val="E0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6"/>
          <p:cNvSpPr txBox="1"/>
          <p:nvPr/>
        </p:nvSpPr>
        <p:spPr>
          <a:xfrm>
            <a:off x="7536229" y="483781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E09F27"/>
                </a:solidFill>
                <a:latin typeface="Aptos"/>
              </a:defRPr>
            </a:pPr>
            <a:r>
              <a:rPr dirty="0"/>
              <a:t>4. CONTEXT CAN BE HARD TO EXPRESS</a:t>
            </a:r>
          </a:p>
        </p:txBody>
      </p:sp>
      <p:sp>
        <p:nvSpPr>
          <p:cNvPr id="39" name="TextBox 17"/>
          <p:cNvSpPr txBox="1"/>
          <p:nvPr/>
        </p:nvSpPr>
        <p:spPr>
          <a:xfrm>
            <a:off x="7536229" y="5214369"/>
            <a:ext cx="3131771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rPr sz="1200" dirty="0"/>
              <a:t>A single gesture may need to become a clearer sentence for everyday communication.</a:t>
            </a:r>
          </a:p>
        </p:txBody>
      </p:sp>
      <p:sp>
        <p:nvSpPr>
          <p:cNvPr id="4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200" b="1" dirty="0">
                <a:solidFill>
                  <a:srgbClr val="213163"/>
                </a:solidFill>
              </a:rPr>
              <a:t>Solution: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33500"/>
            <a:ext cx="11201400" cy="5012690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20240" y="1463040"/>
            <a:ext cx="841248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48840" y="1608074"/>
            <a:ext cx="7955279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223870"/>
                </a:solidFill>
                <a:latin typeface="Aptos"/>
              </a:defRPr>
            </a:pPr>
            <a:r>
              <a:rPr dirty="0"/>
              <a:t>Sense  →  Recognize  →  Generate Text  →  Convert Text to 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67712"/>
            <a:ext cx="1874519" cy="242316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3576CA"/>
                </a:solidFill>
                <a:latin typeface="Aptos"/>
              </a:defRPr>
            </a:pPr>
            <a:r>
              <a:t>1. YOU GESTURE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Move your fingers / hand to express a meaning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24327" y="3456432"/>
            <a:ext cx="274321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267712"/>
            <a:ext cx="1874519" cy="2423160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37A08B"/>
                </a:solidFill>
                <a:latin typeface="Aptos"/>
              </a:defRPr>
            </a:pPr>
            <a:r>
              <a:t>2. WE SENSE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Five flex sensors + MPU6050 capture finger bending and hand movement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3456432"/>
            <a:ext cx="274320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93792" y="2267712"/>
            <a:ext cx="1874519" cy="2423160"/>
          </a:xfrm>
          <a:prstGeom prst="roundRect">
            <a:avLst/>
          </a:prstGeom>
          <a:solidFill>
            <a:srgbClr val="FFFBED"/>
          </a:solidFill>
          <a:ln w="15240">
            <a:solidFill>
              <a:srgbClr val="E0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85231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E09F27"/>
                </a:solidFill>
                <a:latin typeface="Aptos"/>
              </a:defRPr>
            </a:pPr>
            <a:r>
              <a:t>3. WE RECOGNIZE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ESP32 reads the sensor values and identifies the gesture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68312" y="3456432"/>
            <a:ext cx="274319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15783" y="2267712"/>
            <a:ext cx="1874519" cy="2423160"/>
          </a:xfrm>
          <a:prstGeom prst="roundRect">
            <a:avLst/>
          </a:prstGeom>
          <a:solidFill>
            <a:srgbClr val="F9F5FF"/>
          </a:solidFill>
          <a:ln w="15240">
            <a:solidFill>
              <a:srgbClr val="745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07223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7453B1"/>
                </a:solidFill>
                <a:latin typeface="Aptos"/>
              </a:defRPr>
            </a:pPr>
            <a:r>
              <a:t>4. WE GENERATE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1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Android app converts the recognized gesture into a sentence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90304" y="3456432"/>
            <a:ext cx="274320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37776" y="2267712"/>
            <a:ext cx="1874519" cy="2423160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29215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C64841"/>
                </a:solidFill>
                <a:latin typeface="Aptos"/>
              </a:defRPr>
            </a:pPr>
            <a:r>
              <a:t>5. WE SPEAK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3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The generated text is sent to Text-to-Speech and played through the phone speaker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5010912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61872" y="5166360"/>
            <a:ext cx="1600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020" b="1">
                <a:solidFill>
                  <a:srgbClr val="5F6A79"/>
                </a:solidFill>
                <a:latin typeface="Aptos"/>
              </a:defRPr>
            </a:pPr>
            <a:r>
              <a:t>PROJECT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5102352"/>
            <a:ext cx="1417320" cy="658368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71800" y="5276088"/>
            <a:ext cx="12344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20" b="1">
                <a:solidFill>
                  <a:srgbClr val="223870"/>
                </a:solidFill>
                <a:latin typeface="Aptos"/>
              </a:defRPr>
            </a:pPr>
            <a:r>
              <a:t>Gesture: WATER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07408" y="5431536"/>
            <a:ext cx="393192" cy="0"/>
          </a:xfrm>
          <a:prstGeom prst="line">
            <a:avLst/>
          </a:prstGeom>
          <a:ln w="2286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892040" y="5102352"/>
            <a:ext cx="3246120" cy="658368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10912" y="5175504"/>
            <a:ext cx="299923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50" b="1">
                <a:solidFill>
                  <a:srgbClr val="1E2C3F"/>
                </a:solidFill>
                <a:latin typeface="Aptos"/>
              </a:defRPr>
            </a:pPr>
            <a:r>
              <a:t>Generated text: “Could you please</a:t>
            </a:r>
            <a:br/>
            <a:r>
              <a:t>give me some water?”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02168" y="5431536"/>
            <a:ext cx="393192" cy="0"/>
          </a:xfrm>
          <a:prstGeom prst="line">
            <a:avLst/>
          </a:prstGeom>
          <a:ln w="2286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86800" y="5102352"/>
            <a:ext cx="1783080" cy="658368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60" y="5285232"/>
            <a:ext cx="15087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20" b="1">
                <a:solidFill>
                  <a:srgbClr val="C64841"/>
                </a:solidFill>
                <a:latin typeface="Aptos"/>
              </a:defRPr>
            </a:pPr>
            <a:r>
              <a:t>Voice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6062472"/>
            <a:ext cx="9281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80" b="1">
                <a:solidFill>
                  <a:srgbClr val="223870"/>
                </a:solidFill>
                <a:latin typeface="Aptos"/>
              </a:defRPr>
            </a:pPr>
            <a:r>
              <a:t>Text is generated first. Voice is produced only after text formation.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E0BF-F625-EE21-1D94-A2F2A5D6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DAAB8-05EA-C8EF-B4DF-794471401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E1BCF-F58A-9EE0-A766-DD46EA4DB05B}"/>
              </a:ext>
            </a:extLst>
          </p:cNvPr>
          <p:cNvSpPr txBox="1"/>
          <p:nvPr/>
        </p:nvSpPr>
        <p:spPr>
          <a:xfrm>
            <a:off x="3372463" y="818224"/>
            <a:ext cx="4955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ANDROID APPLICATION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558766-39A6-8D07-99AB-48726C431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61" y="1372222"/>
            <a:ext cx="4735273" cy="5058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6E4C41-960C-BB20-8AF5-2A2217AF5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660" y="1455174"/>
            <a:ext cx="5036908" cy="49751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1A0128-FBAC-C5A8-5C90-30A6DA240827}"/>
              </a:ext>
            </a:extLst>
          </p:cNvPr>
          <p:cNvSpPr txBox="1"/>
          <p:nvPr/>
        </p:nvSpPr>
        <p:spPr>
          <a:xfrm>
            <a:off x="1533832" y="6430297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Home – Gesture Detection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9A249-DC0A-4515-7DAC-4E4F4DCF9E3D}"/>
              </a:ext>
            </a:extLst>
          </p:cNvPr>
          <p:cNvSpPr txBox="1"/>
          <p:nvPr/>
        </p:nvSpPr>
        <p:spPr>
          <a:xfrm>
            <a:off x="7384026" y="6488668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History – Communication Settings</a:t>
            </a:r>
          </a:p>
        </p:txBody>
      </p:sp>
    </p:spTree>
    <p:extLst>
      <p:ext uri="{BB962C8B-B14F-4D97-AF65-F5344CB8AC3E}">
        <p14:creationId xmlns:p14="http://schemas.microsoft.com/office/powerpoint/2010/main" val="2686325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6A6F2-0675-02A4-58CF-8340F530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12E84-C787-19E0-4DBC-B7B7D81C1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3B6F08-7EDA-8A4E-DCFD-591003CF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7" y="933233"/>
            <a:ext cx="3077496" cy="5270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E752F3-70C3-368B-CC3C-FE5BC656C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53" y="933233"/>
            <a:ext cx="4160309" cy="52709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57DC16-A012-5F18-081F-3B77521FB82B}"/>
              </a:ext>
            </a:extLst>
          </p:cNvPr>
          <p:cNvSpPr txBox="1"/>
          <p:nvPr/>
        </p:nvSpPr>
        <p:spPr>
          <a:xfrm>
            <a:off x="8475059" y="6329827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Settings &amp; Customization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A4AB5-10AD-CE3D-9E81-A7358A06EBD1}"/>
              </a:ext>
            </a:extLst>
          </p:cNvPr>
          <p:cNvSpPr txBox="1"/>
          <p:nvPr/>
        </p:nvSpPr>
        <p:spPr>
          <a:xfrm>
            <a:off x="317167" y="6329827"/>
            <a:ext cx="2850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         Learn Gestures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F1491-5960-C29B-E1A4-FF0549ABB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58" t="3453" b="2103"/>
          <a:stretch>
            <a:fillRect/>
          </a:stretch>
        </p:blipFill>
        <p:spPr>
          <a:xfrm>
            <a:off x="3834581" y="933232"/>
            <a:ext cx="3429595" cy="5270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67475A-7C15-24AE-6893-1837C06EFFBB}"/>
              </a:ext>
            </a:extLst>
          </p:cNvPr>
          <p:cNvSpPr txBox="1"/>
          <p:nvPr/>
        </p:nvSpPr>
        <p:spPr>
          <a:xfrm>
            <a:off x="4296697" y="6329827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Emergency communication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908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8185-AFBE-E553-55C4-27D8CD16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ECB6B-5890-3FBD-CB50-3EB5151B6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5D2051-183C-5DDC-5886-262A9C50B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0" y="707922"/>
            <a:ext cx="11149782" cy="6150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14C2E8-5E45-6CF0-5C1E-D973408260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981" y="796412"/>
            <a:ext cx="5171767" cy="355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38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200" b="1" dirty="0">
                <a:solidFill>
                  <a:srgbClr val="213163"/>
                </a:solidFill>
              </a:rPr>
              <a:t>Outcome:</a:t>
            </a:r>
          </a:p>
        </p:txBody>
      </p:sp>
      <p:sp>
        <p:nvSpPr>
          <p:cNvPr id="3" name="Rectangle 2"/>
          <p:cNvSpPr/>
          <p:nvPr/>
        </p:nvSpPr>
        <p:spPr>
          <a:xfrm>
            <a:off x="158750" y="1390015"/>
            <a:ext cx="11042650" cy="5035550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2667" y="1583436"/>
            <a:ext cx="3976313" cy="4526280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710690"/>
            <a:ext cx="32918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50" b="1">
                <a:solidFill>
                  <a:srgbClr val="C64841"/>
                </a:solidFill>
                <a:latin typeface="Aptos"/>
              </a:defRPr>
            </a:pPr>
            <a:r>
              <a:rPr dirty="0"/>
              <a:t>WITHOUT SIGNSPEAK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14884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400" b="1">
                <a:solidFill>
                  <a:srgbClr val="1E2C3F"/>
                </a:solidFill>
                <a:latin typeface="Aptos"/>
              </a:defRPr>
            </a:pPr>
            <a:r>
              <a:rPr dirty="0"/>
              <a:t>User makes a gesture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063" y="2610612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C64841"/>
                </a:solidFill>
                <a:latin typeface="Aptos"/>
              </a:defRPr>
            </a:pPr>
            <a:r>
              <a:rPr dirty="0"/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063" y="2990531"/>
            <a:ext cx="3017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1E2C3F"/>
                </a:solidFill>
                <a:latin typeface="Aptos"/>
              </a:defRPr>
            </a:pPr>
            <a:r>
              <a:rPr dirty="0"/>
              <a:t>Listener may not understand</a:t>
            </a:r>
            <a:br>
              <a:rPr dirty="0"/>
            </a:br>
            <a:r>
              <a:rPr dirty="0"/>
              <a:t>the intended 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2174" y="4198096"/>
            <a:ext cx="2971800" cy="7386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20" b="0">
                <a:solidFill>
                  <a:srgbClr val="C64841"/>
                </a:solidFill>
                <a:latin typeface="Aptos"/>
              </a:defRPr>
            </a:pPr>
            <a:r>
              <a:rPr sz="1400" dirty="0"/>
              <a:t>× No direct text</a:t>
            </a:r>
            <a:br>
              <a:rPr sz="1400" dirty="0"/>
            </a:br>
            <a:r>
              <a:rPr sz="1400" dirty="0"/>
              <a:t>× No immediate sentence</a:t>
            </a:r>
            <a:br>
              <a:rPr sz="1400" dirty="0"/>
            </a:br>
            <a:r>
              <a:rPr sz="1400" dirty="0"/>
              <a:t>× No voice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32180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60" b="1">
                <a:solidFill>
                  <a:srgbClr val="C64841"/>
                </a:solidFill>
                <a:latin typeface="Aptos"/>
              </a:defRPr>
            </a:pPr>
            <a:r>
              <a:rPr dirty="0"/>
              <a:t>Communication gap remains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50767" y="1564509"/>
            <a:ext cx="3976313" cy="4526280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6651" y="1677924"/>
            <a:ext cx="32918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50" b="1">
                <a:solidFill>
                  <a:srgbClr val="37A08B"/>
                </a:solidFill>
                <a:latin typeface="Aptos"/>
              </a:defRPr>
            </a:pPr>
            <a:r>
              <a:rPr dirty="0"/>
              <a:t>WITH SIGNSPEAK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5231" y="2079867"/>
            <a:ext cx="3154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50" b="1">
                <a:solidFill>
                  <a:srgbClr val="223870"/>
                </a:solidFill>
                <a:latin typeface="Aptos"/>
              </a:defRPr>
            </a:pPr>
            <a:r>
              <a:rPr dirty="0"/>
              <a:t>Gesture → Sensing →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491347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37A08B"/>
                </a:solidFill>
                <a:latin typeface="Aptos"/>
              </a:defRPr>
            </a:pPr>
            <a:r>
              <a:rPr dirty="0"/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5220" y="2811780"/>
            <a:ext cx="2880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420" b="1">
                <a:solidFill>
                  <a:srgbClr val="223870"/>
                </a:solidFill>
                <a:latin typeface="Aptos"/>
              </a:defRPr>
            </a:pPr>
            <a:r>
              <a:rPr dirty="0"/>
              <a:t>Generated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2391" y="3219131"/>
            <a:ext cx="2880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28695" y="3356291"/>
            <a:ext cx="25877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1">
                <a:solidFill>
                  <a:srgbClr val="1E2C3F"/>
                </a:solidFill>
                <a:latin typeface="Aptos"/>
              </a:defRPr>
            </a:pPr>
            <a:r>
              <a:rPr dirty="0"/>
              <a:t>“Could you please give me</a:t>
            </a:r>
            <a:br>
              <a:rPr dirty="0"/>
            </a:br>
            <a:r>
              <a:rPr dirty="0"/>
              <a:t>some water?”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055364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37A08B"/>
                </a:solidFill>
                <a:latin typeface="Aptos"/>
              </a:defRPr>
            </a:pPr>
            <a:r>
              <a:rPr dirty="0"/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6651" y="4443286"/>
            <a:ext cx="329184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20" b="1">
                <a:solidFill>
                  <a:srgbClr val="37A08B"/>
                </a:solidFill>
                <a:latin typeface="Aptos"/>
              </a:defRPr>
            </a:pPr>
            <a:r>
              <a:rPr dirty="0"/>
              <a:t>Text-to-Speech → Voice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2391" y="5096247"/>
            <a:ext cx="315468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60" b="0">
                <a:solidFill>
                  <a:srgbClr val="1E2C3F"/>
                </a:solidFill>
                <a:latin typeface="Aptos"/>
              </a:defRPr>
            </a:pPr>
            <a:r>
              <a:rPr sz="1200" dirty="0"/>
              <a:t>Clearer communication through the phone speaker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282" y="6125596"/>
            <a:ext cx="10332720" cy="2616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40" b="1">
                <a:solidFill>
                  <a:srgbClr val="5F6A79"/>
                </a:solidFill>
                <a:latin typeface="Aptos"/>
              </a:defRPr>
            </a:pPr>
            <a:r>
              <a:rPr sz="1100" dirty="0"/>
              <a:t>Water is used only as the example gesture in this presentation.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05105" y="1005840"/>
            <a:ext cx="5558790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>
                <a:solidFill>
                  <a:srgbClr val="213163"/>
                </a:solidFill>
                <a:sym typeface="+mn-ea"/>
              </a:rPr>
              <a:t>Components Used:</a:t>
            </a:r>
            <a:endParaRPr lang="en-US" dirty="0"/>
          </a:p>
        </p:txBody>
      </p:sp>
      <p:pic>
        <p:nvPicPr>
          <p:cNvPr id="19" name="Picture 18" descr="sig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315" y="1417320"/>
            <a:ext cx="5834380" cy="44348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98475" y="1699895"/>
            <a:ext cx="6585585" cy="2630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1100" b="0">
                <a:solidFill>
                  <a:srgbClr val="1E2C3F"/>
                </a:solidFill>
                <a:latin typeface="Aptos"/>
              </a:defRPr>
            </a:pPr>
            <a:r>
              <a:rPr sz="1600" b="1" dirty="0">
                <a:sym typeface="+mn-ea"/>
              </a:rPr>
              <a:t>• 5 × Flex Sensors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MPU6050 (Accelerometer + Gyroscope)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ESP32 </a:t>
            </a:r>
            <a:r>
              <a:rPr sz="1600" b="1" dirty="0" err="1">
                <a:sym typeface="+mn-ea"/>
              </a:rPr>
              <a:t>DevKit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Li-Po Battery (3.7V)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TP4056 Charger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Glove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Jumper Wires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On/Off Switch</a:t>
            </a:r>
            <a:br>
              <a:rPr sz="1600" b="1" dirty="0">
                <a:sym typeface="+mn-ea"/>
              </a:rPr>
            </a:br>
            <a:r>
              <a:rPr sz="1600" b="1" dirty="0">
                <a:sym typeface="+mn-ea"/>
              </a:rPr>
              <a:t>• Perfboard / PCB</a:t>
            </a:r>
          </a:p>
          <a:p>
            <a:pPr algn="l">
              <a:defRPr sz="1100" b="0">
                <a:solidFill>
                  <a:srgbClr val="1E2C3F"/>
                </a:solidFill>
                <a:latin typeface="Aptos"/>
              </a:defRPr>
            </a:pPr>
            <a:endParaRPr lang="en-US" sz="1600" b="1" dirty="0">
              <a:sym typeface="+mn-ea"/>
            </a:endParaRPr>
          </a:p>
          <a:p>
            <a:pPr algn="l">
              <a:defRPr sz="1100" b="0">
                <a:solidFill>
                  <a:srgbClr val="1E2C3F"/>
                </a:solidFill>
                <a:latin typeface="Aptos"/>
              </a:defRPr>
            </a:pPr>
            <a:endParaRPr lang="en-US" sz="1600" b="1" dirty="0">
              <a:sym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9110" y="4070350"/>
            <a:ext cx="2741930" cy="1207135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defRPr sz="1020" b="1">
                <a:solidFill>
                  <a:srgbClr val="3576CA"/>
                </a:solidFill>
                <a:latin typeface="Aptos"/>
              </a:defRPr>
            </a:pPr>
            <a:r>
              <a:rPr sz="1600"/>
              <a:t>Software / communication:</a:t>
            </a:r>
            <a:br>
              <a:rPr sz="1600"/>
            </a:br>
            <a:r>
              <a:rPr sz="1600"/>
              <a:t>Android App + Bluetooth + Text-to-Speech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g5fab984687_2_0"/>
          <p:cNvSpPr txBox="1"/>
          <p:nvPr/>
        </p:nvSpPr>
        <p:spPr>
          <a:xfrm>
            <a:off x="4315206" y="29859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1A1BF-575C-48EA-ADF9-233997C3981B}"/>
              </a:ext>
            </a:extLst>
          </p:cNvPr>
          <p:cNvSpPr txBox="1"/>
          <p:nvPr/>
        </p:nvSpPr>
        <p:spPr>
          <a:xfrm>
            <a:off x="8278761" y="3500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818</Words>
  <Application>Microsoft Office PowerPoint</Application>
  <PresentationFormat>Widescreen</PresentationFormat>
  <Paragraphs>127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Simple Light</vt:lpstr>
      <vt:lpstr>PowerPoint Presentation</vt:lpstr>
      <vt:lpstr>Project Objectives </vt:lpstr>
      <vt:lpstr>Problem Statement:</vt:lpstr>
      <vt:lpstr>Solution:</vt:lpstr>
      <vt:lpstr>PowerPoint Presentation</vt:lpstr>
      <vt:lpstr>PowerPoint Presentation</vt:lpstr>
      <vt:lpstr>PowerPoint Presentation</vt:lpstr>
      <vt:lpstr>Outcome: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Venkata Hasini</cp:lastModifiedBy>
  <cp:revision>36</cp:revision>
  <dcterms:created xsi:type="dcterms:W3CDTF">2024-06-24T09:04:00Z</dcterms:created>
  <dcterms:modified xsi:type="dcterms:W3CDTF">2026-10-07T05:40:59Z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2024-05-23T05:30:00Z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2024-06-24T05:30:00Z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  <property fmtid="{D5CDD505-2E9C-101B-9397-08002B2CF9AE}" pid="8" name="KSOProductBuildVer">
    <vt:lpwstr>1033-12.1.0.28485</vt:lpwstr>
  </property>
  <property fmtid="{D5CDD505-2E9C-101B-9397-08002B2CF9AE}" pid="9" name="ICV">
    <vt:lpwstr>7FD5D63E88EC4768A3F6587761A918AA_13</vt:lpwstr>
  </property>
</Properties>
</file>